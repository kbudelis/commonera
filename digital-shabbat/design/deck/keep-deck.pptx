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flinch — the screen-time report everyone recognizes. Go slow. The prototype does the talking; these slides just hold the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demo slide. Switch to the running prototype and walk the whole arc — pledge, candle, the dark, the return, the keepsake. Let each beat breathe; don't rush the candle.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9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BUILD  ·  COMMON ERA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49808" y="173736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0" b="1" dirty="0">
                <a:solidFill>
                  <a:srgbClr val="ECE1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Keep</a:t>
            </a:r>
            <a:endParaRPr lang="en-US" sz="118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CE1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day, set apart.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4434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A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old answer to a new kind of tired.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875166" y="1912925"/>
            <a:ext cx="2457907" cy="2457907"/>
          </a:xfrm>
          <a:prstGeom prst="ellipse">
            <a:avLst/>
          </a:prstGeom>
          <a:solidFill>
            <a:srgbClr val="C1962F">
              <a:alpha val="1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78452" y="2264054"/>
            <a:ext cx="1451336" cy="1451336"/>
          </a:xfrm>
          <a:prstGeom prst="ellipse">
            <a:avLst/>
          </a:prstGeom>
          <a:solidFill>
            <a:srgbClr val="E3B24A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951964" y="3586643"/>
            <a:ext cx="304312" cy="1076797"/>
          </a:xfrm>
          <a:prstGeom prst="roundRect">
            <a:avLst>
              <a:gd name="adj" fmla="val 9014"/>
            </a:avLst>
          </a:prstGeom>
          <a:solidFill>
            <a:srgbClr val="E9DEC4"/>
          </a:solidFill>
          <a:ln w="9525">
            <a:solidFill>
              <a:srgbClr val="C9BC9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81225" y="3071652"/>
            <a:ext cx="245791" cy="585216"/>
          </a:xfrm>
          <a:prstGeom prst="ellipse">
            <a:avLst/>
          </a:prstGeom>
          <a:solidFill>
            <a:srgbClr val="E3B24A"/>
          </a:solidFill>
          <a:ln/>
        </p:spPr>
      </p:sp>
      <p:sp>
        <p:nvSpPr>
          <p:cNvPr id="10" name="Shape 8"/>
          <p:cNvSpPr/>
          <p:nvPr/>
        </p:nvSpPr>
        <p:spPr>
          <a:xfrm>
            <a:off x="10045598" y="3258922"/>
            <a:ext cx="117043" cy="304312"/>
          </a:xfrm>
          <a:prstGeom prst="ellipse">
            <a:avLst/>
          </a:prstGeom>
          <a:solidFill>
            <a:srgbClr val="F4E6B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E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217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9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" y="10515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41D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week has lost its edges.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7589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24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has seen their own screen-time report and flinched. But the problem underneath isn't too much phone — it's that no day is different from any other.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24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tiredness isn't from working too hard. It's from never being </a:t>
            </a:r>
            <a:pPr indent="0" marL="0">
              <a:lnSpc>
                <a:spcPct val="115000"/>
              </a:lnSpc>
              <a:buNone/>
            </a:pPr>
            <a:r>
              <a:rPr lang="en-US" sz="1900" i="1" dirty="0">
                <a:solidFill>
                  <a:srgbClr val="24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24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88920" y="5074920"/>
            <a:ext cx="914400" cy="914400"/>
          </a:xfrm>
          <a:prstGeom prst="roundRect">
            <a:avLst>
              <a:gd name="adj" fmla="val 4000"/>
            </a:avLst>
          </a:prstGeom>
          <a:solidFill>
            <a:srgbClr val="C7C0B1"/>
          </a:solidFill>
          <a:ln w="9525">
            <a:solidFill>
              <a:srgbClr val="B7AF9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59352" y="5074920"/>
            <a:ext cx="914400" cy="914400"/>
          </a:xfrm>
          <a:prstGeom prst="roundRect">
            <a:avLst>
              <a:gd name="adj" fmla="val 4000"/>
            </a:avLst>
          </a:prstGeom>
          <a:solidFill>
            <a:srgbClr val="C7C0B1"/>
          </a:solidFill>
          <a:ln w="9525">
            <a:solidFill>
              <a:srgbClr val="B7AF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9784" y="5074920"/>
            <a:ext cx="914400" cy="914400"/>
          </a:xfrm>
          <a:prstGeom prst="roundRect">
            <a:avLst>
              <a:gd name="adj" fmla="val 4000"/>
            </a:avLst>
          </a:prstGeom>
          <a:solidFill>
            <a:srgbClr val="C7C0B1"/>
          </a:solidFill>
          <a:ln w="9525">
            <a:solidFill>
              <a:srgbClr val="B7AF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0216" y="5074920"/>
            <a:ext cx="914400" cy="914400"/>
          </a:xfrm>
          <a:prstGeom prst="roundRect">
            <a:avLst>
              <a:gd name="adj" fmla="val 4000"/>
            </a:avLst>
          </a:prstGeom>
          <a:solidFill>
            <a:srgbClr val="C7C0B1"/>
          </a:solidFill>
          <a:ln w="9525">
            <a:solidFill>
              <a:srgbClr val="B7AF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70648" y="5074920"/>
            <a:ext cx="914400" cy="914400"/>
          </a:xfrm>
          <a:prstGeom prst="roundRect">
            <a:avLst>
              <a:gd name="adj" fmla="val 4000"/>
            </a:avLst>
          </a:prstGeom>
          <a:solidFill>
            <a:srgbClr val="C7C0B1"/>
          </a:solidFill>
          <a:ln w="9525">
            <a:solidFill>
              <a:srgbClr val="B7AF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41080" y="5074920"/>
            <a:ext cx="914400" cy="914400"/>
          </a:xfrm>
          <a:prstGeom prst="roundRect">
            <a:avLst>
              <a:gd name="adj" fmla="val 4000"/>
            </a:avLst>
          </a:prstGeom>
          <a:solidFill>
            <a:srgbClr val="C7C0B1"/>
          </a:solidFill>
          <a:ln w="9525">
            <a:solidFill>
              <a:srgbClr val="B7AF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11512" y="5074920"/>
            <a:ext cx="914400" cy="914400"/>
          </a:xfrm>
          <a:prstGeom prst="roundRect">
            <a:avLst>
              <a:gd name="adj" fmla="val 4000"/>
            </a:avLst>
          </a:prstGeom>
          <a:solidFill>
            <a:srgbClr val="C7C0B1"/>
          </a:solidFill>
          <a:ln w="9525">
            <a:solidFill>
              <a:srgbClr val="B7AF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617220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days, no difference between them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E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217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9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reframe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" y="1024128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241D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We're not selling rest.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241D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We're selling distinction.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1D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app sells rest.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E6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Calm, quiet, unwind — one more feature on a very crowded shelf.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63640" y="2971800"/>
            <a:ext cx="5074920" cy="2926080"/>
          </a:xfrm>
          <a:prstGeom prst="roundRect">
            <a:avLst>
              <a:gd name="adj" fmla="val 1875"/>
            </a:avLst>
          </a:prstGeom>
          <a:solidFill>
            <a:srgbClr val="141A2E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3291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E1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Keep sells the edge.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0" y="3840480"/>
            <a:ext cx="4434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A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that separates one day from the grey of the other six.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01968" y="5257800"/>
            <a:ext cx="146304" cy="146304"/>
          </a:xfrm>
          <a:prstGeom prst="ellipse">
            <a:avLst/>
          </a:prstGeom>
          <a:solidFill>
            <a:srgbClr val="C1962F"/>
          </a:solidFill>
          <a:ln/>
        </p:spPr>
      </p:sp>
      <p:sp>
        <p:nvSpPr>
          <p:cNvPr id="10" name="Shape 8"/>
          <p:cNvSpPr/>
          <p:nvPr/>
        </p:nvSpPr>
        <p:spPr>
          <a:xfrm>
            <a:off x="6986016" y="5166360"/>
            <a:ext cx="146304" cy="146304"/>
          </a:xfrm>
          <a:prstGeom prst="ellipse">
            <a:avLst/>
          </a:prstGeom>
          <a:solidFill>
            <a:srgbClr val="C1962F"/>
          </a:solidFill>
          <a:ln/>
        </p:spPr>
      </p:sp>
      <p:sp>
        <p:nvSpPr>
          <p:cNvPr id="11" name="Shape 9"/>
          <p:cNvSpPr/>
          <p:nvPr/>
        </p:nvSpPr>
        <p:spPr>
          <a:xfrm>
            <a:off x="7370064" y="5257800"/>
            <a:ext cx="146304" cy="146304"/>
          </a:xfrm>
          <a:prstGeom prst="ellipse">
            <a:avLst/>
          </a:prstGeom>
          <a:solidFill>
            <a:srgbClr val="C1962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6144768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are how we make meaning.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217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9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answer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" y="10515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41D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day. A wall around it. Kept together.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24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Humanity solved this a long time ago: one day each week, set apart, and kept in common. Three thousand years old — and it still works. No belief required to feel it.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88920" y="4937760"/>
            <a:ext cx="914400" cy="914400"/>
          </a:xfrm>
          <a:prstGeom prst="roundRect">
            <a:avLst>
              <a:gd name="adj" fmla="val 4000"/>
            </a:avLst>
          </a:prstGeom>
          <a:solidFill>
            <a:srgbClr val="C7C0B1"/>
          </a:solidFill>
          <a:ln w="9525">
            <a:solidFill>
              <a:srgbClr val="B7AF9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59352" y="4937760"/>
            <a:ext cx="914400" cy="914400"/>
          </a:xfrm>
          <a:prstGeom prst="roundRect">
            <a:avLst>
              <a:gd name="adj" fmla="val 4000"/>
            </a:avLst>
          </a:prstGeom>
          <a:solidFill>
            <a:srgbClr val="C7C0B1"/>
          </a:solidFill>
          <a:ln w="9525">
            <a:solidFill>
              <a:srgbClr val="B7AF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9784" y="4937760"/>
            <a:ext cx="914400" cy="914400"/>
          </a:xfrm>
          <a:prstGeom prst="roundRect">
            <a:avLst>
              <a:gd name="adj" fmla="val 4000"/>
            </a:avLst>
          </a:prstGeom>
          <a:solidFill>
            <a:srgbClr val="C7C0B1"/>
          </a:solidFill>
          <a:ln w="9525">
            <a:solidFill>
              <a:srgbClr val="B7AF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0216" y="4937760"/>
            <a:ext cx="914400" cy="914400"/>
          </a:xfrm>
          <a:prstGeom prst="roundRect">
            <a:avLst>
              <a:gd name="adj" fmla="val 4000"/>
            </a:avLst>
          </a:prstGeom>
          <a:solidFill>
            <a:srgbClr val="C7C0B1"/>
          </a:solidFill>
          <a:ln w="9525">
            <a:solidFill>
              <a:srgbClr val="B7AF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70648" y="4937760"/>
            <a:ext cx="914400" cy="914400"/>
          </a:xfrm>
          <a:prstGeom prst="roundRect">
            <a:avLst>
              <a:gd name="adj" fmla="val 4000"/>
            </a:avLst>
          </a:prstGeom>
          <a:solidFill>
            <a:srgbClr val="C7C0B1"/>
          </a:solidFill>
          <a:ln w="9525">
            <a:solidFill>
              <a:srgbClr val="B7AF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41080" y="4937760"/>
            <a:ext cx="914400" cy="914400"/>
          </a:xfrm>
          <a:prstGeom prst="roundRect">
            <a:avLst>
              <a:gd name="adj" fmla="val 4000"/>
            </a:avLst>
          </a:prstGeom>
          <a:solidFill>
            <a:srgbClr val="C7C0B1"/>
          </a:solidFill>
          <a:ln w="9525">
            <a:solidFill>
              <a:srgbClr val="B7AF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11512" y="4937760"/>
            <a:ext cx="914400" cy="914400"/>
          </a:xfrm>
          <a:prstGeom prst="roundRect">
            <a:avLst>
              <a:gd name="adj" fmla="val 4000"/>
            </a:avLst>
          </a:prstGeom>
          <a:solidFill>
            <a:srgbClr val="C1962F"/>
          </a:solidFill>
          <a:ln w="12700">
            <a:solidFill>
              <a:srgbClr val="9C7A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60350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ordinary days — one kept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E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217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9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" y="102412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41D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 a blocker. A covenant.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5029200" cy="3246120"/>
          </a:xfrm>
          <a:prstGeom prst="roundRect">
            <a:avLst>
              <a:gd name="adj" fmla="val 1690"/>
            </a:avLst>
          </a:prstGeom>
          <a:solidFill>
            <a:srgbClr val="E4D8BA"/>
          </a:solidFill>
          <a:ln w="12700">
            <a:solidFill>
              <a:srgbClr val="CBBE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514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D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other app  </a:t>
            </a:r>
            <a:pPr indent="0" marL="0">
              <a:buNone/>
            </a:pPr>
            <a:r>
              <a:rPr lang="en-US" sz="1400" i="1" dirty="0">
                <a:solidFill>
                  <a:srgbClr val="6E604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(technical)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3154680"/>
            <a:ext cx="4526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4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you out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4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your minutes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4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Shames you the moment you slip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09360" y="2240280"/>
            <a:ext cx="5029200" cy="3246120"/>
          </a:xfrm>
          <a:prstGeom prst="roundRect">
            <a:avLst>
              <a:gd name="adj" fmla="val 1690"/>
            </a:avLst>
          </a:prstGeom>
          <a:solidFill>
            <a:srgbClr val="EFE0B8"/>
          </a:solidFill>
          <a:ln w="15875">
            <a:solidFill>
              <a:srgbClr val="C196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514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D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Keep  </a:t>
            </a:r>
            <a:pPr indent="0" marL="0">
              <a:buNone/>
            </a:pPr>
            <a:r>
              <a:rPr lang="en-US" sz="1400" i="1" dirty="0">
                <a:solidFill>
                  <a:srgbClr val="8A6E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(covenantal)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0" y="3154680"/>
            <a:ext cx="4526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4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your word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4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holds the day with you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4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leaves you something to keep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5742432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the whole product.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E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21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9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ritual, end to 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" y="102412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41D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Five steps. One is a live demo.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468880" y="3954780"/>
            <a:ext cx="779526" cy="0"/>
          </a:xfrm>
          <a:prstGeom prst="line">
            <a:avLst/>
          </a:prstGeom>
          <a:noFill/>
          <a:ln w="19050">
            <a:solidFill>
              <a:srgbClr val="C1962F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4629150" y="3954780"/>
            <a:ext cx="779526" cy="0"/>
          </a:xfrm>
          <a:prstGeom prst="line">
            <a:avLst/>
          </a:prstGeom>
          <a:noFill/>
          <a:ln w="19050">
            <a:solidFill>
              <a:srgbClr val="C1962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789420" y="3954780"/>
            <a:ext cx="779526" cy="0"/>
          </a:xfrm>
          <a:prstGeom prst="line">
            <a:avLst/>
          </a:prstGeom>
          <a:noFill/>
          <a:ln w="19050">
            <a:solidFill>
              <a:srgbClr val="C1962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8949690" y="3954780"/>
            <a:ext cx="779526" cy="0"/>
          </a:xfrm>
          <a:prstGeom prst="line">
            <a:avLst/>
          </a:prstGeom>
          <a:noFill/>
          <a:ln w="19050">
            <a:solidFill>
              <a:srgbClr val="C1962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069848" y="3246120"/>
            <a:ext cx="1417320" cy="1417320"/>
          </a:xfrm>
          <a:prstGeom prst="ellipse">
            <a:avLst/>
          </a:prstGeom>
          <a:solidFill>
            <a:srgbClr val="E4D8BA"/>
          </a:solidFill>
          <a:ln w="12700">
            <a:solidFill>
              <a:srgbClr val="CBBE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335584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9848" y="37033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1D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Pledge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86968" y="477316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D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Pledge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513892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promise,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E6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30118" y="3246120"/>
            <a:ext cx="1417320" cy="1417320"/>
          </a:xfrm>
          <a:prstGeom prst="ellipse">
            <a:avLst/>
          </a:prstGeom>
          <a:solidFill>
            <a:srgbClr val="141A2E"/>
          </a:solidFill>
          <a:ln w="19050">
            <a:solidFill>
              <a:srgbClr val="C196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30118" y="335584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9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39516" y="3235147"/>
            <a:ext cx="998525" cy="998525"/>
          </a:xfrm>
          <a:prstGeom prst="ellipse">
            <a:avLst/>
          </a:prstGeom>
          <a:solidFill>
            <a:srgbClr val="C1962F">
              <a:alpha val="1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643975" y="3377794"/>
            <a:ext cx="589605" cy="589605"/>
          </a:xfrm>
          <a:prstGeom prst="ellipse">
            <a:avLst/>
          </a:prstGeom>
          <a:solidFill>
            <a:srgbClr val="E3B24A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876965" y="3915095"/>
            <a:ext cx="123627" cy="437449"/>
          </a:xfrm>
          <a:prstGeom prst="roundRect">
            <a:avLst>
              <a:gd name="adj" fmla="val 22189"/>
            </a:avLst>
          </a:prstGeom>
          <a:solidFill>
            <a:srgbClr val="E9DEC4"/>
          </a:solidFill>
          <a:ln w="9525">
            <a:solidFill>
              <a:srgbClr val="C9BC9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88852" y="3705880"/>
            <a:ext cx="99852" cy="237744"/>
          </a:xfrm>
          <a:prstGeom prst="ellipse">
            <a:avLst/>
          </a:prstGeom>
          <a:solidFill>
            <a:srgbClr val="E3B24A"/>
          </a:solidFill>
          <a:ln/>
        </p:spPr>
      </p:sp>
      <p:sp>
        <p:nvSpPr>
          <p:cNvPr id="19" name="Shape 17"/>
          <p:cNvSpPr/>
          <p:nvPr/>
        </p:nvSpPr>
        <p:spPr>
          <a:xfrm>
            <a:off x="3915004" y="3781958"/>
            <a:ext cx="47549" cy="123627"/>
          </a:xfrm>
          <a:prstGeom prst="ellipse">
            <a:avLst/>
          </a:prstGeom>
          <a:solidFill>
            <a:srgbClr val="F4E6B4"/>
          </a:solidFill>
          <a:ln/>
        </p:spPr>
      </p:sp>
      <p:sp>
        <p:nvSpPr>
          <p:cNvPr id="20" name="Text 18"/>
          <p:cNvSpPr/>
          <p:nvPr/>
        </p:nvSpPr>
        <p:spPr>
          <a:xfrm>
            <a:off x="3047238" y="477316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D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Candle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001518" y="513892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one-way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E6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90388" y="3246120"/>
            <a:ext cx="1417320" cy="1417320"/>
          </a:xfrm>
          <a:prstGeom prst="ellipse">
            <a:avLst/>
          </a:prstGeom>
          <a:solidFill>
            <a:srgbClr val="E4D8BA"/>
          </a:solidFill>
          <a:ln w="12700">
            <a:solidFill>
              <a:srgbClr val="CBBE9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0388" y="335584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0388" y="37033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1D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dark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07508" y="477316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D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dark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161788" y="513892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the feed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E6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reach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50658" y="3246120"/>
            <a:ext cx="1417320" cy="1417320"/>
          </a:xfrm>
          <a:prstGeom prst="ellipse">
            <a:avLst/>
          </a:prstGeom>
          <a:solidFill>
            <a:srgbClr val="E4D8BA"/>
          </a:solidFill>
          <a:ln w="12700">
            <a:solidFill>
              <a:srgbClr val="CBBE9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50658" y="335584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50658" y="37033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1D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return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367778" y="477316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D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return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22058" y="513892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escorted back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E6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week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710928" y="3246120"/>
            <a:ext cx="1417320" cy="1417320"/>
          </a:xfrm>
          <a:prstGeom prst="ellipse">
            <a:avLst/>
          </a:prstGeom>
          <a:solidFill>
            <a:srgbClr val="E4D8BA"/>
          </a:solidFill>
          <a:ln w="12700">
            <a:solidFill>
              <a:srgbClr val="CBBE9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10928" y="335584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710928" y="37033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1D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Keepsake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528048" y="477316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D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Keepsake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482328" y="513892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tile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E6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mosaic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30118" y="3703320"/>
            <a:ext cx="1417320" cy="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r>
              <a:rPr lang="en-US" sz="100" b="1" dirty="0">
                <a:solidFill>
                  <a:srgbClr val="ECE1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Candle</a:t>
            </a:r>
            <a:endParaRPr lang="en-US" sz="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9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" y="137160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CE1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candle is a door,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CE1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 a button.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7040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B9A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light it. The screen goes dark and stays dark. The phone's last act is to teach you to put it down — no cancel, no confirm. A crossing you can't un-cross.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18220" y="1668780"/>
            <a:ext cx="2880360" cy="2880360"/>
          </a:xfrm>
          <a:prstGeom prst="ellipse">
            <a:avLst/>
          </a:prstGeom>
          <a:solidFill>
            <a:srgbClr val="C1962F">
              <a:alpha val="1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208008" y="2080260"/>
            <a:ext cx="1700784" cy="1700784"/>
          </a:xfrm>
          <a:prstGeom prst="ellipse">
            <a:avLst/>
          </a:prstGeom>
          <a:solidFill>
            <a:srgbClr val="E3B24A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880092" y="3630168"/>
            <a:ext cx="356616" cy="1261872"/>
          </a:xfrm>
          <a:prstGeom prst="roundRect">
            <a:avLst>
              <a:gd name="adj" fmla="val 7692"/>
            </a:avLst>
          </a:prstGeom>
          <a:solidFill>
            <a:srgbClr val="E9DEC4"/>
          </a:solidFill>
          <a:ln w="9525">
            <a:solidFill>
              <a:srgbClr val="C9BC9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14382" y="3026664"/>
            <a:ext cx="288036" cy="685800"/>
          </a:xfrm>
          <a:prstGeom prst="ellipse">
            <a:avLst/>
          </a:prstGeom>
          <a:solidFill>
            <a:srgbClr val="E3B24A"/>
          </a:solidFill>
          <a:ln/>
        </p:spPr>
      </p:sp>
      <p:sp>
        <p:nvSpPr>
          <p:cNvPr id="9" name="Shape 7"/>
          <p:cNvSpPr/>
          <p:nvPr/>
        </p:nvSpPr>
        <p:spPr>
          <a:xfrm>
            <a:off x="9989820" y="3246120"/>
            <a:ext cx="137160" cy="356616"/>
          </a:xfrm>
          <a:prstGeom prst="ellipse">
            <a:avLst/>
          </a:prstGeom>
          <a:solidFill>
            <a:srgbClr val="F4E6B4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E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21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9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no one else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" y="102412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41D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way back out.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7955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24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Detox apps just let you fail back into the feed. Keep walks you back out — a closing that returns you to the week with your senses, and one question: what are you carrying back? That exit is why the day sticks.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281160" y="2880360"/>
            <a:ext cx="237744" cy="237744"/>
          </a:xfrm>
          <a:prstGeom prst="ellipse">
            <a:avLst/>
          </a:prstGeom>
          <a:solidFill>
            <a:srgbClr val="C1962F"/>
          </a:solidFill>
          <a:ln/>
        </p:spPr>
      </p:sp>
      <p:sp>
        <p:nvSpPr>
          <p:cNvPr id="6" name="Shape 4"/>
          <p:cNvSpPr/>
          <p:nvPr/>
        </p:nvSpPr>
        <p:spPr>
          <a:xfrm>
            <a:off x="9848088" y="2788920"/>
            <a:ext cx="237744" cy="237744"/>
          </a:xfrm>
          <a:prstGeom prst="ellipse">
            <a:avLst/>
          </a:prstGeom>
          <a:solidFill>
            <a:srgbClr val="C1962F"/>
          </a:solidFill>
          <a:ln/>
        </p:spPr>
      </p:sp>
      <p:sp>
        <p:nvSpPr>
          <p:cNvPr id="7" name="Shape 5"/>
          <p:cNvSpPr/>
          <p:nvPr/>
        </p:nvSpPr>
        <p:spPr>
          <a:xfrm>
            <a:off x="10415016" y="2880360"/>
            <a:ext cx="237744" cy="237744"/>
          </a:xfrm>
          <a:prstGeom prst="ellipse">
            <a:avLst/>
          </a:prstGeom>
          <a:solidFill>
            <a:srgbClr val="C1962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8064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stars — the sign the day is complete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E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217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9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" y="1024128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41D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mosaic, not a streak.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6126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24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streak shames you the week you miss. A mosaic only grows. Every kept week lays one tile — miss a week and nothing breaks, you simply don't add a stone. Many flames, no leaderboard.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52360" y="21488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C1962F"/>
          </a:solidFill>
          <a:ln w="12700">
            <a:solidFill>
              <a:srgbClr val="9C7A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47304" y="21488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C1962F"/>
          </a:solidFill>
          <a:ln w="12700">
            <a:solidFill>
              <a:srgbClr val="9C7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42248" y="21488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C1962F"/>
          </a:solidFill>
          <a:ln w="12700">
            <a:solidFill>
              <a:srgbClr val="9C7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37192" y="21488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C1962F"/>
          </a:solidFill>
          <a:ln w="12700">
            <a:solidFill>
              <a:srgbClr val="9C7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32136" y="21488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C1962F"/>
          </a:solidFill>
          <a:ln w="12700">
            <a:solidFill>
              <a:srgbClr val="9C7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27080" y="21488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4D8BA"/>
          </a:solidFill>
          <a:ln w="9525">
            <a:solidFill>
              <a:srgbClr val="CBBE9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52360" y="2843784"/>
            <a:ext cx="566928" cy="566928"/>
          </a:xfrm>
          <a:prstGeom prst="roundRect">
            <a:avLst>
              <a:gd name="adj" fmla="val 8065"/>
            </a:avLst>
          </a:prstGeom>
          <a:solidFill>
            <a:srgbClr val="C1962F"/>
          </a:solidFill>
          <a:ln w="12700">
            <a:solidFill>
              <a:srgbClr val="9C7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47304" y="2843784"/>
            <a:ext cx="566928" cy="566928"/>
          </a:xfrm>
          <a:prstGeom prst="roundRect">
            <a:avLst>
              <a:gd name="adj" fmla="val 8065"/>
            </a:avLst>
          </a:prstGeom>
          <a:solidFill>
            <a:srgbClr val="C1962F"/>
          </a:solidFill>
          <a:ln w="12700">
            <a:solidFill>
              <a:srgbClr val="9C7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42248" y="2843784"/>
            <a:ext cx="566928" cy="566928"/>
          </a:xfrm>
          <a:prstGeom prst="roundRect">
            <a:avLst>
              <a:gd name="adj" fmla="val 8065"/>
            </a:avLst>
          </a:prstGeom>
          <a:solidFill>
            <a:srgbClr val="C1962F"/>
          </a:solidFill>
          <a:ln w="12700">
            <a:solidFill>
              <a:srgbClr val="9C7A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37192" y="2843784"/>
            <a:ext cx="566928" cy="566928"/>
          </a:xfrm>
          <a:prstGeom prst="roundRect">
            <a:avLst>
              <a:gd name="adj" fmla="val 8065"/>
            </a:avLst>
          </a:prstGeom>
          <a:solidFill>
            <a:srgbClr val="C1962F"/>
          </a:solidFill>
          <a:ln w="12700">
            <a:solidFill>
              <a:srgbClr val="9C7A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32136" y="2843784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4D8BA"/>
          </a:solidFill>
          <a:ln w="9525">
            <a:solidFill>
              <a:srgbClr val="CBBE9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27080" y="2843784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4D8BA"/>
          </a:solidFill>
          <a:ln w="9525">
            <a:solidFill>
              <a:srgbClr val="CBBE9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3538728"/>
            <a:ext cx="566928" cy="566928"/>
          </a:xfrm>
          <a:prstGeom prst="roundRect">
            <a:avLst>
              <a:gd name="adj" fmla="val 8065"/>
            </a:avLst>
          </a:prstGeom>
          <a:solidFill>
            <a:srgbClr val="C1962F"/>
          </a:solidFill>
          <a:ln w="12700">
            <a:solidFill>
              <a:srgbClr val="9C7A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47304" y="3538728"/>
            <a:ext cx="566928" cy="566928"/>
          </a:xfrm>
          <a:prstGeom prst="roundRect">
            <a:avLst>
              <a:gd name="adj" fmla="val 8065"/>
            </a:avLst>
          </a:prstGeom>
          <a:solidFill>
            <a:srgbClr val="C1962F"/>
          </a:solidFill>
          <a:ln w="12700">
            <a:solidFill>
              <a:srgbClr val="9C7A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42248" y="3538728"/>
            <a:ext cx="566928" cy="566928"/>
          </a:xfrm>
          <a:prstGeom prst="roundRect">
            <a:avLst>
              <a:gd name="adj" fmla="val 8065"/>
            </a:avLst>
          </a:prstGeom>
          <a:solidFill>
            <a:srgbClr val="C1962F"/>
          </a:solidFill>
          <a:ln w="12700">
            <a:solidFill>
              <a:srgbClr val="9C7A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37192" y="3538728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4D8BA"/>
          </a:solidFill>
          <a:ln w="9525">
            <a:solidFill>
              <a:srgbClr val="CBBE9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32136" y="3538728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4D8BA"/>
          </a:solidFill>
          <a:ln w="9525">
            <a:solidFill>
              <a:srgbClr val="CBBE9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27080" y="3538728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4D8BA"/>
          </a:solidFill>
          <a:ln w="9525">
            <a:solidFill>
              <a:srgbClr val="CBBE9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52360" y="423367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C1962F"/>
          </a:solidFill>
          <a:ln w="12700">
            <a:solidFill>
              <a:srgbClr val="9C7A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47304" y="423367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4D8BA"/>
          </a:solidFill>
          <a:ln w="9525">
            <a:solidFill>
              <a:srgbClr val="CBBE9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42248" y="423367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4D8BA"/>
          </a:solidFill>
          <a:ln w="9525">
            <a:solidFill>
              <a:srgbClr val="CBBE9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37192" y="423367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4D8BA"/>
          </a:solidFill>
          <a:ln w="9525">
            <a:solidFill>
              <a:srgbClr val="CBBE9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32136" y="423367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4D8BA"/>
          </a:solidFill>
          <a:ln w="9525">
            <a:solidFill>
              <a:srgbClr val="CBBE9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27080" y="423367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4D8BA"/>
          </a:solidFill>
          <a:ln w="9525">
            <a:solidFill>
              <a:srgbClr val="CBBE9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8064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tile is a week you kept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9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23444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ECE1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Keep.</a:t>
            </a:r>
            <a:endParaRPr lang="en-US" sz="92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2500" dirty="0">
                <a:solidFill>
                  <a:srgbClr val="ECE1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Keep a promise.</a:t>
            </a:r>
            <a:endParaRPr lang="en-US" sz="25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2500" dirty="0">
                <a:solidFill>
                  <a:srgbClr val="ECE1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Keep a day.</a:t>
            </a:r>
            <a:endParaRPr lang="en-US" sz="25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2500" dirty="0">
                <a:solidFill>
                  <a:srgbClr val="ECE1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keepsake.</a:t>
            </a:r>
            <a:endParaRPr lang="en-US" sz="25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2500" dirty="0">
                <a:solidFill>
                  <a:srgbClr val="C196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Keep the sabbath.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35240" y="324612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B9A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ordinary word, mean the sacred one. It reads to those who feel it — and stays quiet for everyone else.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08058" y="688086"/>
            <a:ext cx="1632204" cy="1632204"/>
          </a:xfrm>
          <a:prstGeom prst="ellipse">
            <a:avLst/>
          </a:prstGeom>
          <a:solidFill>
            <a:srgbClr val="C1962F">
              <a:alpha val="1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942271" y="921258"/>
            <a:ext cx="963778" cy="963778"/>
          </a:xfrm>
          <a:prstGeom prst="ellipse">
            <a:avLst/>
          </a:prstGeom>
          <a:solidFill>
            <a:srgbClr val="E3B24A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323119" y="1799539"/>
            <a:ext cx="202082" cy="715061"/>
          </a:xfrm>
          <a:prstGeom prst="roundRect">
            <a:avLst>
              <a:gd name="adj" fmla="val 13575"/>
            </a:avLst>
          </a:prstGeom>
          <a:solidFill>
            <a:srgbClr val="E9DEC4"/>
          </a:solidFill>
          <a:ln w="9525">
            <a:solidFill>
              <a:srgbClr val="C9BC9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42550" y="1457554"/>
            <a:ext cx="163220" cy="388620"/>
          </a:xfrm>
          <a:prstGeom prst="ellipse">
            <a:avLst/>
          </a:prstGeom>
          <a:solidFill>
            <a:srgbClr val="E3B24A"/>
          </a:solidFill>
          <a:ln/>
        </p:spPr>
      </p:sp>
      <p:sp>
        <p:nvSpPr>
          <p:cNvPr id="10" name="Shape 8"/>
          <p:cNvSpPr/>
          <p:nvPr/>
        </p:nvSpPr>
        <p:spPr>
          <a:xfrm>
            <a:off x="10385298" y="1581912"/>
            <a:ext cx="77724" cy="202082"/>
          </a:xfrm>
          <a:prstGeom prst="ellipse">
            <a:avLst/>
          </a:prstGeom>
          <a:solidFill>
            <a:srgbClr val="F4E6B4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E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217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9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" y="102412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41D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Built. Working. Yours to try.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D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Real now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4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ritual arc, running as a PWA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4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pledge, in the user's own words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4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Candle, flame shader, the dark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4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growing mosaic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172200" y="2194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D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Still shaping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172200" y="265176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6E6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Aesthetic polish and motion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6E6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optional “go deeper” door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6E6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communal layer — many flames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983480"/>
            <a:ext cx="10515600" cy="1234440"/>
          </a:xfrm>
          <a:prstGeom prst="roundRect">
            <a:avLst>
              <a:gd name="adj" fmla="val 5185"/>
            </a:avLst>
          </a:prstGeom>
          <a:solidFill>
            <a:srgbClr val="141A2E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5138928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without me in the room  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B9A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prototype link ]      ·      Open: the domain, and how much of the communal layer belongs in v1.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14600"/>
            <a:ext cx="8778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ECE1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Give your week its shape back.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41248" y="39776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96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Keep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082278" y="1671066"/>
            <a:ext cx="2592324" cy="2592324"/>
          </a:xfrm>
          <a:prstGeom prst="ellipse">
            <a:avLst/>
          </a:prstGeom>
          <a:solidFill>
            <a:srgbClr val="C1962F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13087" y="2041398"/>
            <a:ext cx="1530706" cy="1530706"/>
          </a:xfrm>
          <a:prstGeom prst="ellipse">
            <a:avLst/>
          </a:prstGeom>
          <a:solidFill>
            <a:srgbClr val="E3B24A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217963" y="3436315"/>
            <a:ext cx="320954" cy="1135685"/>
          </a:xfrm>
          <a:prstGeom prst="roundRect">
            <a:avLst>
              <a:gd name="adj" fmla="val 8547"/>
            </a:avLst>
          </a:prstGeom>
          <a:solidFill>
            <a:srgbClr val="E9DEC4"/>
          </a:solidFill>
          <a:ln w="9525">
            <a:solidFill>
              <a:srgbClr val="C9BC9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8824" y="2893162"/>
            <a:ext cx="259232" cy="617220"/>
          </a:xfrm>
          <a:prstGeom prst="ellipse">
            <a:avLst/>
          </a:prstGeom>
          <a:solidFill>
            <a:srgbClr val="E3B24A"/>
          </a:solidFill>
          <a:ln/>
        </p:spPr>
      </p:sp>
      <p:sp>
        <p:nvSpPr>
          <p:cNvPr id="8" name="Shape 6"/>
          <p:cNvSpPr/>
          <p:nvPr/>
        </p:nvSpPr>
        <p:spPr>
          <a:xfrm>
            <a:off x="10316718" y="3090672"/>
            <a:ext cx="123444" cy="320954"/>
          </a:xfrm>
          <a:prstGeom prst="ellipse">
            <a:avLst/>
          </a:prstGeom>
          <a:solidFill>
            <a:srgbClr val="F4E6B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2026-07-11T20:25:48Z</dcterms:created>
  <dcterms:modified xsi:type="dcterms:W3CDTF">2026-07-11T20:25:48Z</dcterms:modified>
</cp:coreProperties>
</file>